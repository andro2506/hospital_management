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600" b="1">
          <a:solidFill>
            <a:schemeClr val="dk2"/>
          </a:solidFill>
          <a:latin typeface="+mj-lt"/>
        </a:defRPr>
      </a:lvl1pPr>
    </p:titleStyle>
    <p:bodyStyle>
      <a:lvl1pPr marL="342900" indent="-342900">
        <a:buChar char="•"/>
        <a:defRPr sz="2000">
          <a:solidFill>
            <a:schemeClr val="tx1"/>
          </a:solidFill>
          <a:latin typeface="+mn-lt"/>
        </a:defRPr>
      </a:lvl1pPr>
      <a:lvl2pPr marL="685800" indent="-285750">
        <a:buChar char="◦"/>
        <a:defRPr sz="1800">
          <a:solidFill>
            <a:schemeClr val="tx1"/>
          </a:solidFill>
          <a:latin typeface="+mn-lt"/>
        </a:defRPr>
      </a:lvl2pPr>
    </p:bodyStyle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1828800"/>
            <a:ext cx="10820400" cy="1600200"/>
          </a:xfrm>
        </p:spPr>
        <p:txBody>
          <a:bodyPr anchor="b"/>
          <a:lstStyle/>
          <a:p>
            <a:r>
              <a:rPr lang="en-US" dirty="0"/>
              <a:t>Hospital Management System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85800" y="3657600"/>
            <a:ext cx="10820400" cy="1600200"/>
          </a:xfrm>
        </p:spPr>
        <p:txBody>
          <a:bodyPr/>
          <a:lstStyle/>
          <a:p>
            <a:r>
              <a:rPr lang="en-US" dirty="0"/>
              <a:t>Java EE web application using Servlets + JSP and SQLite</a:t>
            </a:r>
          </a:p>
          <a:p>
            <a:r>
              <a:rPr lang="en-US" dirty="0"/>
              <a:t>Project documentation and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Web-based hospital management system for two roles: Admin and Patient.</a:t>
            </a:r>
          </a:p>
          <a:p>
            <a:pPr lvl="0"/>
            <a:r>
              <a:rPr lang="en-US" dirty="0"/>
              <a:t>Admin manages patient records, lab tests, bills and consultations.</a:t>
            </a:r>
          </a:p>
          <a:p>
            <a:pPr lvl="0"/>
            <a:r>
              <a:rPr lang="en-US" dirty="0"/>
              <a:t>Patients self-register, log in, view and edit their own details, see lab tests and bills, and request doctor consultations.</a:t>
            </a:r>
          </a:p>
          <a:p>
            <a:pPr lvl="0"/>
            <a:r>
              <a:rPr lang="en-US" dirty="0"/>
              <a:t>Built as a plain Java EE Dynamic Web Project on Apache Tomcat.</a:t>
            </a:r>
          </a:p>
          <a:p>
            <a:pPr lvl="0"/>
            <a:r>
              <a:rPr lang="en-US" dirty="0"/>
              <a:t>Persistence via SQLite (single hospital.db file, JDBC driver).</a:t>
            </a:r>
          </a:p>
          <a:p>
            <a:pPr lvl="0"/>
            <a:r>
              <a:rPr lang="en-US" dirty="0"/>
              <a:t>Frontend: server-rendered JSP pages with vanilla HTML/CSS/JavaScript.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Tech Stack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Server: Apache Tomcat 9.0.71 (Servlet 3.1, JSP 2.3).</a:t>
            </a:r>
          </a:p>
          <a:p>
            <a:pPr lvl="0"/>
            <a:r>
              <a:rPr lang="en-US" dirty="0"/>
              <a:t>Language: Java 8+.</a:t>
            </a:r>
          </a:p>
          <a:p>
            <a:pPr lvl="0"/>
            <a:r>
              <a:rPr lang="en-US" dirty="0"/>
              <a:t>Database: SQLite via sqlite-jdbc-3.27.2.jar.</a:t>
            </a:r>
          </a:p>
          <a:p>
            <a:pPr lvl="0"/>
            <a:r>
              <a:rPr lang="en-US" dirty="0"/>
              <a:t>Frontend: HTML, CSS (light-blue medical theme), vanilla JavaScript.</a:t>
            </a:r>
          </a:p>
          <a:p>
            <a:pPr lvl="0"/>
            <a:r>
              <a:rPr lang="en-US" dirty="0"/>
              <a:t>No Spring, no Hibernate, no Maven build required.</a:t>
            </a:r>
          </a:p>
          <a:p>
            <a:pPr lvl="0"/>
            <a:r>
              <a:rPr lang="en-US" dirty="0"/>
              <a:t>Tested by compiling all sources against a minimal javax.servlet stub (34 classes).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Folder Structure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HospitalManagementSystem/ - top-level project root.</a:t>
            </a:r>
          </a:p>
          <a:p>
            <a:pPr lvl="1"/>
            <a:r>
              <a:rPr lang="en-US" dirty="0"/>
              <a:t>src/com/hospital/model/ - POJOs (Patient, Admin, Lab, Bill, Consultation).</a:t>
            </a:r>
          </a:p>
          <a:p>
            <a:pPr lvl="1"/>
            <a:r>
              <a:rPr lang="en-US" dirty="0"/>
              <a:t>src/com/hospital/dao/ - JDBC DAOs and PatientCollection (in-memory).</a:t>
            </a:r>
          </a:p>
          <a:p>
            <a:pPr lvl="1"/>
            <a:r>
              <a:rPr lang="en-US" dirty="0"/>
              <a:t>src/com/hospital/servlet/ - all servlets (admin + patient + shared).</a:t>
            </a:r>
          </a:p>
          <a:p>
            <a:pPr lvl="1"/>
            <a:r>
              <a:rPr lang="en-US" dirty="0"/>
              <a:t>src/com/hospital/util/ - DBConnection, DBInitListener, ValidationUtil.</a:t>
            </a:r>
          </a:p>
          <a:p>
            <a:pPr lvl="1"/>
            <a:r>
              <a:rPr lang="en-US" dirty="0"/>
              <a:t>WebContent/WEB-INF/web.xml + lib/sqlite-jdbc-3.27.2.jar.</a:t>
            </a:r>
          </a:p>
          <a:p>
            <a:pPr lvl="1"/>
            <a:r>
              <a:rPr lang="en-US" dirty="0"/>
              <a:t>WebContent/jsp/, css/, js/, index.jsp.</a:t>
            </a:r>
          </a:p>
          <a:p>
            <a:pPr lvl="1"/>
            <a:r>
              <a:rPr lang="en-US" dirty="0"/>
              <a:t>hospital.db is auto-created next to the deployed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Database Schema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Patient (PRN PK, PatientName, Email, Age, BloodGroup, DOB, Gender, Ward, DoctorId, DoctorName, Address, Contact, Aadhar, Username, Password).</a:t>
            </a:r>
          </a:p>
          <a:p>
            <a:pPr lvl="0"/>
            <a:r>
              <a:rPr lang="en-US" dirty="0"/>
              <a:t>Admin (AdminId PK, Username UNIQUE, Password).</a:t>
            </a:r>
          </a:p>
          <a:p>
            <a:pPr lvl="0"/>
            <a:r>
              <a:rPr lang="en-US" dirty="0"/>
              <a:t>Lab (LabId PK auto, PatientId FK, TestType, Category, Weight, Height, Mobile).</a:t>
            </a:r>
          </a:p>
          <a:p>
            <a:pPr lvl="0"/>
            <a:r>
              <a:rPr lang="en-US" dirty="0"/>
              <a:t>Bills (BillId PK auto, LabId FK, PatientId FK, PayableAmount).</a:t>
            </a:r>
          </a:p>
          <a:p>
            <a:pPr lvl="0"/>
            <a:r>
              <a:rPr lang="en-US" dirty="0"/>
              <a:t>Consultation (ConsultationId PK auto, PatientId FK, DoctorName, Department, PreferredDate, Notes, Status).</a:t>
            </a:r>
          </a:p>
          <a:p>
            <a:pPr lvl="0"/>
            <a:r>
              <a:rPr lang="en-US" dirty="0"/>
              <a:t>DBConnection auto-creates tables on startup and seeds an admin + 10 demo patients (3 with login credentials).</a:t>
            </a:r>
          </a:p>
          <a:p>
            <a:pPr lvl="0"/>
            <a:r>
              <a:rPr lang="en-US" dirty="0"/>
              <a:t>Idempotent migrations: ALTER TABLE adds Username/Password if missing on older DBs.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User Roles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Admin - hospital staff. Full control over patient records, lab tests, bills, and consultation workflow.</a:t>
            </a:r>
          </a:p>
          <a:p>
            <a:pPr lvl="0"/>
            <a:r>
              <a:rPr lang="en-US" dirty="0"/>
              <a:t>Patient - self-service user. Sees only their own data and can request doctor consultations.</a:t>
            </a:r>
          </a:p>
          <a:p>
            <a:pPr lvl="0"/>
            <a:r>
              <a:rPr lang="en-US" dirty="0"/>
              <a:t>Authentication is session-based; SessionGuard helper redirects unauthenticated users to the right login screen.</a:t>
            </a:r>
          </a:p>
          <a:p>
            <a:pPr lvl="0"/>
            <a:r>
              <a:rPr lang="en-US" dirty="0"/>
              <a:t>Admin and Patient sessions live under separate session attributes (admin / patient).</a:t>
            </a:r>
          </a:p>
          <a:p>
            <a:pPr lvl="0"/>
            <a:r>
              <a:rPr lang="en-US" dirty="0"/>
              <a:t>Logout invalidates the session and returns to the home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Menu and Navigation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Public (index.jsp): Admin Login, Patient Login, Patient Register.</a:t>
            </a:r>
          </a:p>
          <a:p>
            <a:pPr lvl="0"/>
            <a:r>
              <a:rPr lang="en-US" dirty="0"/>
              <a:t>Admin Dashboard tiles: Add / View / Search / Edit / Delete Patient, Delete by Mobile, Register Lab Test, View Lab Tests, View Bills, Search Bill, View Consultations, Logout.</a:t>
            </a:r>
          </a:p>
          <a:p>
            <a:pPr lvl="0"/>
            <a:r>
              <a:rPr lang="en-US" dirty="0"/>
              <a:t>Patient Dashboard tiles: View My Details, Edit My Details, My Lab Tests, Register Consultation, My Bills, Logout.</a:t>
            </a:r>
          </a:p>
          <a:p>
            <a:pPr lvl="0"/>
            <a:r>
              <a:rPr lang="en-US" dirty="0"/>
              <a:t>Header is a shared JSP include (jsp/includes/header.jsp) that renders role-aware navigation.</a:t>
            </a:r>
          </a:p>
          <a:p>
            <a:pPr lvl="0"/>
            <a:r>
              <a:rPr lang="en-US" dirty="0"/>
              <a:t>Footer (jsp/includes/footer.jsp) loads validation.js for client-side form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Admin Login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JSP: jsp/login.jsp - Servlet: LoginServlet at /login.</a:t>
            </a:r>
          </a:p>
          <a:p>
            <a:pPr lvl="0"/>
            <a:r>
              <a:rPr lang="en-US" dirty="0"/>
              <a:t>Username rule: alphanumeric, minimum 8 characters.</a:t>
            </a:r>
          </a:p>
          <a:p>
            <a:pPr lvl="0"/>
            <a:r>
              <a:rPr lang="en-US" dirty="0"/>
              <a:t>Password rule: minimum 10 characters with at least one uppercase, one digit, and one special character.</a:t>
            </a:r>
          </a:p>
          <a:p>
            <a:pPr lvl="0"/>
            <a:r>
              <a:rPr lang="en-US" dirty="0"/>
              <a:t>Both client-side (validation.js) and server-side (ValidationUtil) checks.</a:t>
            </a:r>
          </a:p>
          <a:p>
            <a:pPr lvl="0"/>
            <a:r>
              <a:rPr lang="en-US" dirty="0"/>
              <a:t>Authenticated admin is stored in HttpSession under the 'admin' attribute.</a:t>
            </a:r>
          </a:p>
          <a:p>
            <a:pPr lvl="0"/>
            <a:r>
              <a:rPr lang="en-US" dirty="0"/>
              <a:t>Default seeded credentials: admin001 / Admin@123.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Admin Home (Dashboard)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JSP: jsp/adminDashboard.jsp.</a:t>
            </a:r>
          </a:p>
          <a:p>
            <a:pPr lvl="0"/>
            <a:r>
              <a:rPr lang="en-US" dirty="0"/>
              <a:t>Tile-based menu giving one-click access to each admin function.</a:t>
            </a:r>
          </a:p>
          <a:p>
            <a:pPr lvl="0"/>
            <a:r>
              <a:rPr lang="en-US" dirty="0"/>
              <a:t>Greets the admin by username pulled from the session.</a:t>
            </a:r>
          </a:p>
          <a:p>
            <a:pPr lvl="0"/>
            <a:r>
              <a:rPr lang="en-US" dirty="0"/>
              <a:t>Tiles: Add Patient, View Patients, Search Patient, Edit Patient, Delete Patient, Delete by Mobile.</a:t>
            </a:r>
          </a:p>
          <a:p>
            <a:pPr lvl="0"/>
            <a:r>
              <a:rPr lang="en-US" dirty="0"/>
              <a:t>Tiles: Register Lab Test, View Lab Tests, View Bills, Search Bill, View Consultations.</a:t>
            </a:r>
          </a:p>
          <a:p>
            <a:pPr lvl="0"/>
            <a:r>
              <a:rPr lang="en-US" dirty="0"/>
              <a:t>Tile: Logout - invalidates session and returns home.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Admin: Patient Management (CRUD)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Add Patient (/addPatient): captures all fields with full server-side validation; mirrors the row into PatientCollection.</a:t>
            </a:r>
          </a:p>
          <a:p>
            <a:pPr lvl="0"/>
            <a:r>
              <a:rPr lang="en-US" dirty="0"/>
              <a:t>View Patients (/viewPatients): paginated list, 5 per page, with Edit and Delete actions per row.</a:t>
            </a:r>
          </a:p>
          <a:p>
            <a:pPr lvl="0"/>
            <a:r>
              <a:rPr lang="en-US" dirty="0"/>
              <a:t>Search Patient (/searchPatient): lookup by 7-digit PRN, shows full record.</a:t>
            </a:r>
          </a:p>
          <a:p>
            <a:pPr lvl="0"/>
            <a:r>
              <a:rPr lang="en-US" dirty="0"/>
              <a:t>Edit Patient (/editPatient): loads existing record then updates; PRN stays read-only.</a:t>
            </a:r>
          </a:p>
          <a:p>
            <a:pPr lvl="0"/>
            <a:r>
              <a:rPr lang="en-US" dirty="0"/>
              <a:t>Delete Patient (/deletePatient): confirms record before deletion.</a:t>
            </a:r>
          </a:p>
          <a:p>
            <a:pPr lvl="0"/>
            <a:r>
              <a:rPr lang="en-US" dirty="0"/>
              <a:t>Delete by Mobile (/deleteByMobile): bulk delete by 10-digit contact number.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Admin: Lab Tests and Billing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Register Lab Test (/registerLabTest): admin books CBC or BEL test for a patient.</a:t>
            </a:r>
          </a:p>
          <a:p>
            <a:pPr lvl="0"/>
            <a:r>
              <a:rPr lang="en-US" dirty="0"/>
              <a:t>Validates the patient PRN exists, then writes one row in Lab and one in Bills (Bill extends Lab).</a:t>
            </a:r>
          </a:p>
          <a:p>
            <a:pPr lvl="0"/>
            <a:r>
              <a:rPr lang="en-US" dirty="0"/>
              <a:t>Acknowledgment message: 'Patient Registration for Lab tests is Successful' with auto-generated Lab Id, Bill Id and payable amount.</a:t>
            </a:r>
          </a:p>
          <a:p>
            <a:pPr lvl="0"/>
            <a:r>
              <a:rPr lang="en-US" dirty="0"/>
              <a:t>View Lab Tests (/viewLabTests): all lab tests across patients.</a:t>
            </a:r>
          </a:p>
          <a:p>
            <a:pPr lvl="0"/>
            <a:r>
              <a:rPr lang="en-US" dirty="0"/>
              <a:t>View Bills (/viewBills): all bills with running total payable.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Search Bill (Polymorphism)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JSP: jsp/searchBill.jsp - Servlet: SearchBillServlet at /searchBill.</a:t>
            </a:r>
          </a:p>
          <a:p>
            <a:pPr lvl="0"/>
            <a:r>
              <a:rPr lang="en-US" dirty="0"/>
              <a:t>Admin chooses to search by Email or by Patient PRN (radio button).</a:t>
            </a:r>
          </a:p>
          <a:p>
            <a:pPr lvl="0"/>
            <a:r>
              <a:rPr lang="en-US" dirty="0"/>
              <a:t>BillDAO exposes searchByEmail(String) and searchByPatientId(String) plus a polymorphic search(String) that picks the strategy based on input.</a:t>
            </a:r>
          </a:p>
          <a:p>
            <a:pPr lvl="0"/>
            <a:r>
              <a:rPr lang="en-US" dirty="0"/>
              <a:t>Result page shows the patient details, every matching bill, and the total payable amount.</a:t>
            </a:r>
          </a:p>
          <a:p>
            <a:pPr lvl="0"/>
            <a:r>
              <a:rPr lang="en-US" dirty="0"/>
              <a:t>Demonstrates the polymorphism user story (US005-Polymorphism) cleanly.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Admin: View Consultations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JSP: jsp/viewConsultations.jsp - Servlet: ViewConsultationsServlet at /viewConsultations.</a:t>
            </a:r>
          </a:p>
          <a:p>
            <a:pPr lvl="0"/>
            <a:r>
              <a:rPr lang="en-US" dirty="0"/>
              <a:t>Lists every consultation request from every patient, joined with the patient's name.</a:t>
            </a:r>
          </a:p>
          <a:p>
            <a:pPr lvl="0"/>
            <a:r>
              <a:rPr lang="en-US" dirty="0"/>
              <a:t>Each row shows Consultation Id, Patient (name + PRN), Department, Doctor, Preferred Date, Status, Notes.</a:t>
            </a:r>
          </a:p>
          <a:p>
            <a:pPr lvl="0"/>
            <a:r>
              <a:rPr lang="en-US" dirty="0"/>
              <a:t>Inline status dropdown lets admin move requests through PENDING -&gt; CONFIRMED -&gt; COMPLETED.</a:t>
            </a:r>
          </a:p>
          <a:p>
            <a:pPr lvl="0"/>
            <a:r>
              <a:rPr lang="en-US" dirty="0"/>
              <a:t>Updates use POST + redirect-with-flash for clean refresh.</a:t>
            </a:r>
          </a:p>
          <a:p>
            <a:pPr lvl="0"/>
            <a:r>
              <a:rPr lang="en-US" dirty="0"/>
              <a:t>ConsultationDAO.isValidStatus guards against invalid status values.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Patient Registration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JSP: jsp/patientRegister.jsp - Servlet: PatientRegisterServlet at /patientRegister.</a:t>
            </a:r>
          </a:p>
          <a:p>
            <a:pPr lvl="0"/>
            <a:r>
              <a:rPr lang="en-US" dirty="0"/>
              <a:t>Two sections: Login Details (username, password, confirm password) and Patient Details (full personal info).</a:t>
            </a:r>
          </a:p>
          <a:p>
            <a:pPr lvl="0"/>
            <a:r>
              <a:rPr lang="en-US" dirty="0"/>
              <a:t>Client-side: validation.js checks formats and password match.</a:t>
            </a:r>
          </a:p>
          <a:p>
            <a:pPr lvl="0"/>
            <a:r>
              <a:rPr lang="en-US" dirty="0"/>
              <a:t>Server-side: rejects duplicate username or duplicate PRN with friendly messages.</a:t>
            </a:r>
          </a:p>
          <a:p>
            <a:pPr lvl="0"/>
            <a:r>
              <a:rPr lang="en-US" dirty="0"/>
              <a:t>On success, the patient can log in immediately with the chosen username.</a:t>
            </a:r>
          </a:p>
          <a:p>
            <a:pPr lvl="0"/>
            <a:r>
              <a:rPr lang="en-US" dirty="0"/>
              <a:t>Public link from the home page; no login required to register.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Patient Login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JSP: jsp/patientLogin.jsp - Servlet: PatientLoginServlet at /patientLogin.</a:t>
            </a:r>
          </a:p>
          <a:p>
            <a:pPr lvl="0"/>
            <a:r>
              <a:rPr lang="en-US" dirty="0"/>
              <a:t>Same UID and password rules as admin login (alphanumeric 8+, password 10+ with upper/digit/special).</a:t>
            </a:r>
          </a:p>
          <a:p>
            <a:pPr lvl="0"/>
            <a:r>
              <a:rPr lang="en-US" dirty="0"/>
              <a:t>On success, the full Patient object (without password) is stored in HttpSession under 'patient'.</a:t>
            </a:r>
          </a:p>
          <a:p>
            <a:pPr lvl="0"/>
            <a:r>
              <a:rPr lang="en-US" dirty="0"/>
              <a:t>On failure, friendly error remains on the same page.</a:t>
            </a:r>
          </a:p>
          <a:p>
            <a:pPr lvl="0"/>
            <a:r>
              <a:rPr lang="en-US" dirty="0"/>
              <a:t>Three demo patients are seeded for testing: patient001, patient002, patient003 (all Patient@123).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Patient Dashboard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JSP: jsp/patientDashboard.jsp.</a:t>
            </a:r>
          </a:p>
          <a:p>
            <a:pPr lvl="0"/>
            <a:r>
              <a:rPr lang="en-US" dirty="0"/>
              <a:t>Greets the patient by name and shows their PRN.</a:t>
            </a:r>
          </a:p>
          <a:p>
            <a:pPr lvl="0"/>
            <a:r>
              <a:rPr lang="en-US" dirty="0"/>
              <a:t>Tile menu: View My Details, Edit My Details, My Lab Tests, Register Consultation, My Bills, Logout.</a:t>
            </a:r>
          </a:p>
          <a:p>
            <a:pPr lvl="0"/>
            <a:r>
              <a:rPr lang="en-US" dirty="0"/>
              <a:t>Each tile links to a screen scoped to the logged-in patient only.</a:t>
            </a:r>
          </a:p>
          <a:p>
            <a:pPr lvl="0"/>
            <a:r>
              <a:rPr lang="en-US" dirty="0"/>
              <a:t>Patient sessions are isolated from admin sessions and use a separate /patientLogout endpoint.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Patient: View / Edit My Details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JSP: jsp/myProfile.jsp - Servlet: PatientProfileServlet at /myProfile and /myProfile/edit.</a:t>
            </a:r>
          </a:p>
          <a:p>
            <a:pPr lvl="0"/>
            <a:r>
              <a:rPr lang="en-US" dirty="0"/>
              <a:t>View mode: read-only profile cards showing PRN, username, name, age, gender, blood group, DOB, contact, Aadhar, ward, doctor, address.</a:t>
            </a:r>
          </a:p>
          <a:p>
            <a:pPr lvl="0"/>
            <a:r>
              <a:rPr lang="en-US" dirty="0"/>
              <a:t>Edit mode: patient can update name, age, gender, DOB, blood group, address, contact and Aadhar.</a:t>
            </a:r>
          </a:p>
          <a:p>
            <a:pPr lvl="0"/>
            <a:r>
              <a:rPr lang="en-US" dirty="0"/>
              <a:t>PRN, Username, Ward and Doctor remain read-only - only hospital staff can change those.</a:t>
            </a:r>
          </a:p>
          <a:p>
            <a:pPr lvl="0"/>
            <a:r>
              <a:rPr lang="en-US" dirty="0"/>
              <a:t>PatientDAO.selfUpdate enforces the field allow-list at the data layer too.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Patient: My Lab Tests and My Bills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My Lab Tests (/myLabTests): lists every lab test booked under the logged-in PRN.</a:t>
            </a:r>
          </a:p>
          <a:p>
            <a:pPr lvl="0"/>
            <a:r>
              <a:rPr lang="en-US" dirty="0"/>
              <a:t>Backed by LabDAO.findByPatient(patientId).</a:t>
            </a:r>
          </a:p>
          <a:p>
            <a:pPr lvl="0"/>
            <a:r>
              <a:rPr lang="en-US" dirty="0"/>
              <a:t>My Bills (/myBills): lists every bill against the logged-in PRN with a running total payable.</a:t>
            </a:r>
          </a:p>
          <a:p>
            <a:pPr lvl="0"/>
            <a:r>
              <a:rPr lang="en-US" dirty="0"/>
              <a:t>Reuses BillDAO.searchByPatientId(patientId) so the polymorphic search code is shared.</a:t>
            </a:r>
          </a:p>
          <a:p>
            <a:pPr lvl="0"/>
            <a:r>
              <a:rPr lang="en-US" dirty="0"/>
              <a:t>Both pages forward to error.jsp if anything goes wrong, never crashing the server.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Patient: Register for Doctor Consultation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JSP: jsp/registerConsultation.jsp - Servlet: RegisterConsultationServlet at /registerConsultation.</a:t>
            </a:r>
          </a:p>
          <a:p>
            <a:pPr lvl="0"/>
            <a:r>
              <a:rPr lang="en-US" dirty="0"/>
              <a:t>Form fields: Department (dropdown), Doctor Name, Preferred Date (must be today or later), Notes.</a:t>
            </a:r>
          </a:p>
          <a:p>
            <a:pPr lvl="0"/>
            <a:r>
              <a:rPr lang="en-US" dirty="0"/>
              <a:t>Server-side validation rejects past dates and overly long notes.</a:t>
            </a:r>
          </a:p>
          <a:p>
            <a:pPr lvl="0"/>
            <a:r>
              <a:rPr lang="en-US" dirty="0"/>
              <a:t>On submit, a Consultation row is inserted with Status = PENDING.</a:t>
            </a:r>
          </a:p>
          <a:p>
            <a:pPr lvl="0"/>
            <a:r>
              <a:rPr lang="en-US" dirty="0"/>
              <a:t>The same screen lists the patient's previous requests with current status.</a:t>
            </a:r>
          </a:p>
          <a:p>
            <a:pPr lvl="0"/>
            <a:r>
              <a:rPr lang="en-US" dirty="0"/>
              <a:t>Admin sees the request immediately on the View Consultations screen.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OOP Concepts Demonstrated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Inheritance: Bill extends Lab. RegisterLabTestServlet writes Lab and Bills rows together.</a:t>
            </a:r>
          </a:p>
          <a:p>
            <a:pPr lvl="0"/>
            <a:r>
              <a:rPr lang="en-US" dirty="0"/>
              <a:t>Polymorphism: BillDAO.search(key) auto-detects email vs. PRN; explicit overloads searchByEmail / searchByPatientId.</a:t>
            </a:r>
          </a:p>
          <a:p>
            <a:pPr lvl="0"/>
            <a:r>
              <a:rPr lang="en-US" dirty="0"/>
              <a:t>Encapsulation: clean POJOs in com.hospital.model with private fields and accessors.</a:t>
            </a:r>
          </a:p>
          <a:p>
            <a:pPr lvl="0"/>
            <a:r>
              <a:rPr lang="en-US" dirty="0"/>
              <a:t>Collection: PatientCollection (singleton ArrayList) implements US001-Collection - add, removeById, findById, totalCount, viewAll.</a:t>
            </a:r>
          </a:p>
          <a:p>
            <a:pPr lvl="0"/>
            <a:r>
              <a:rPr lang="en-US" dirty="0"/>
              <a:t>Exception handling: every servlet catches IllegalArgumentException for friendly errors and forwards to error.jsp on unexpected failures.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Validation Rules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User ID: alphanumeric, minimum 8 characters.</a:t>
            </a:r>
          </a:p>
          <a:p>
            <a:pPr lvl="0"/>
            <a:r>
              <a:rPr lang="en-US" dirty="0"/>
              <a:t>Password: minimum 10 characters, at least one uppercase, one digit, one special character.</a:t>
            </a:r>
          </a:p>
          <a:p>
            <a:pPr lvl="0"/>
            <a:r>
              <a:rPr lang="en-US" dirty="0"/>
              <a:t>PRN / RegistrationId: exactly 7 digits.</a:t>
            </a:r>
          </a:p>
          <a:p>
            <a:pPr lvl="0"/>
            <a:r>
              <a:rPr lang="en-US" dirty="0"/>
              <a:t>Contact / Mobile: exactly 10 digits.</a:t>
            </a:r>
          </a:p>
          <a:p>
            <a:pPr lvl="0"/>
            <a:r>
              <a:rPr lang="en-US" dirty="0"/>
              <a:t>Aadhar: exactly 12 digits.</a:t>
            </a:r>
          </a:p>
          <a:p>
            <a:pPr lvl="0"/>
            <a:r>
              <a:rPr lang="en-US" dirty="0"/>
              <a:t>Email: standard email pattern.</a:t>
            </a:r>
          </a:p>
          <a:p>
            <a:pPr lvl="0"/>
            <a:r>
              <a:rPr lang="en-US" dirty="0"/>
              <a:t>Mirrored in validation.js (client) and ValidationUtil (server) - server is the source of truth.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Setup and Default Credentials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Drop sqlite-jdbc-3.27.2.jar into HospitalManagementSystem/WebContent/WEB-INF/lib/ (helper script: download-deps.sh).</a:t>
            </a:r>
          </a:p>
          <a:p>
            <a:pPr lvl="0"/>
            <a:r>
              <a:rPr lang="en-US" dirty="0"/>
              <a:t>Import as a Dynamic Web Project, target Tomcat 9.0.71, Run on Server.</a:t>
            </a:r>
          </a:p>
          <a:p>
            <a:pPr lvl="0"/>
            <a:r>
              <a:rPr lang="en-US" dirty="0"/>
              <a:t>On first request, DBInitListener creates hospital.db, all tables, and seeds demo data.</a:t>
            </a:r>
          </a:p>
          <a:p>
            <a:pPr lvl="0"/>
            <a:r>
              <a:rPr lang="en-US" dirty="0"/>
              <a:t>Admin login: admin001 / Admin@123.</a:t>
            </a:r>
          </a:p>
          <a:p>
            <a:pPr lvl="0"/>
            <a:r>
              <a:rPr lang="en-US" dirty="0"/>
              <a:t>Patient logins: patient001, patient002, patient003 - all with password Patient@123.</a:t>
            </a:r>
          </a:p>
          <a:p>
            <a:pPr lvl="0"/>
            <a:r>
              <a:rPr lang="en-US" dirty="0"/>
              <a:t>Self-registered patients pick their own username and password.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990600"/>
          </a:xfrm>
        </p:spPr>
        <p:txBody>
          <a:bodyPr/>
          <a:lstStyle/>
          <a:p>
            <a:r>
              <a:rPr lang="en-US" dirty="0"/>
              <a:t>Conclusion and Future Enhancements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600200"/>
            <a:ext cx="10820400" cy="5029200"/>
          </a:xfrm>
        </p:spPr>
        <p:txBody>
          <a:bodyPr/>
          <a:lstStyle/>
          <a:p>
            <a:pPr lvl="0"/>
            <a:r>
              <a:rPr lang="en-US" dirty="0"/>
              <a:t>Project covers all originally-specified user stories plus admin + patient self-service flows added later.</a:t>
            </a:r>
          </a:p>
          <a:p>
            <a:pPr lvl="0"/>
            <a:r>
              <a:rPr lang="en-US" dirty="0"/>
              <a:t>Strong separation of concerns: servlets handle HTTP, DAOs handle SQL, JSPs handle rendering.</a:t>
            </a:r>
          </a:p>
          <a:p>
            <a:pPr lvl="0"/>
            <a:r>
              <a:rPr lang="en-US" dirty="0"/>
              <a:t>Possible extensions: doctor accounts and dashboards, prescription module, appointment scheduling with time slots, payment gateway integration, REST API + SPA frontend.</a:t>
            </a:r>
          </a:p>
          <a:p>
            <a:pPr lvl="0"/>
            <a:r>
              <a:rPr lang="en-US" dirty="0"/>
              <a:t>Current code is intentionally framework-free so it remains a clear teaching example of plain Servlets + JSP + JDBC.</a:t>
            </a:r>
          </a:p>
          <a:p>
            <a:pPr lvl="0"/>
            <a:r>
              <a:rPr lang="en-US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MS">
  <a:themeElements>
    <a:clrScheme name="HMS">
      <a:dk1>
        <a:sysClr val="windowText" lastClr="000000"/>
      </a:dk1>
      <a:lt1>
        <a:sysClr val="window" lastClr="FFFFFF"/>
      </a:lt1>
      <a:dk2>
        <a:srgbClr val="0A558C"/>
      </a:dk2>
      <a:lt2>
        <a:srgbClr val="E7F1FB"/>
      </a:lt2>
      <a:accent1>
        <a:srgbClr val="1976D2"/>
      </a:accent1>
      <a:accent2>
        <a:srgbClr val="0A558C"/>
      </a:accent2>
      <a:accent3>
        <a:srgbClr val="2EA7DF"/>
      </a:accent3>
      <a:accent4>
        <a:srgbClr val="68B0AB"/>
      </a:accent4>
      <a:accent5>
        <a:srgbClr val="C0392B"/>
      </a:accent5>
      <a:accent6>
        <a:srgbClr val="557A93"/>
      </a:accent6>
      <a:hlink>
        <a:srgbClr val="1976D2"/>
      </a:hlink>
      <a:folHlink>
        <a:srgbClr val="0A558C"/>
      </a:folHlink>
    </a:clrScheme>
    <a:fontScheme name="HM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HM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